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Trials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548640" y="21031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Analysis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4864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3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del panorama mundial de ensayos clinicos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 Samaniego  |  Data Analytics Bootcamp  |  2025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DEL PROYECTO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es el panorama global de los ensayos clinicos?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47120" cy="914400"/>
          </a:xfrm>
          <a:prstGeom prst="rect">
            <a:avLst/>
          </a:prstGeom>
          <a:solidFill>
            <a:srgbClr val="E3F0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6304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Analizar tendencias globales de ensayos clinicos por fase, pais y tipo de patrocinador usando datos reales en tiempo real.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560320"/>
            <a:ext cx="2651760" cy="128016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6517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30175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ClinicalTrials.gov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v2 publica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83280" y="2560320"/>
            <a:ext cx="2651760" cy="128016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26517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ENSAYOS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474720" y="30175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4.000 registros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extrados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2560320"/>
            <a:ext cx="2651760" cy="128016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26517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0" y="30175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columnas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analizadas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235440" y="2560320"/>
            <a:ext cx="2651760" cy="128016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16" name="Text 14"/>
          <p:cNvSpPr/>
          <p:nvPr/>
        </p:nvSpPr>
        <p:spPr>
          <a:xfrm>
            <a:off x="9326880" y="26517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326880" y="30175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2000 - 2024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480560"/>
            <a:ext cx="2011680" cy="7315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448056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Extraccion API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0" y="4480560"/>
            <a:ext cx="2011680" cy="731520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22" name="Text 20"/>
          <p:cNvSpPr/>
          <p:nvPr/>
        </p:nvSpPr>
        <p:spPr>
          <a:xfrm>
            <a:off x="2788920" y="448056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Limpieza Datos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0" y="4480560"/>
            <a:ext cx="2011680" cy="7315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4" name="Text 22"/>
          <p:cNvSpPr/>
          <p:nvPr/>
        </p:nvSpPr>
        <p:spPr>
          <a:xfrm>
            <a:off x="5074920" y="448056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EDA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315200" y="4480560"/>
            <a:ext cx="2011680" cy="731520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26" name="Text 24"/>
          <p:cNvSpPr/>
          <p:nvPr/>
        </p:nvSpPr>
        <p:spPr>
          <a:xfrm>
            <a:off x="7360920" y="448056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Visualizacion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601200" y="4480560"/>
            <a:ext cx="2011680" cy="7315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8" name="Text 26"/>
          <p:cNvSpPr/>
          <p:nvPr/>
        </p:nvSpPr>
        <p:spPr>
          <a:xfrm>
            <a:off x="9646920" y="448056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Insights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DEL ANALISIS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datos a decisiones inteligentes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463040"/>
            <a:ext cx="914400" cy="16459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5087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19202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417320" y="1463040"/>
            <a:ext cx="914400" cy="16459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8" name="Text 6"/>
          <p:cNvSpPr/>
          <p:nvPr/>
        </p:nvSpPr>
        <p:spPr>
          <a:xfrm>
            <a:off x="1417320" y="15087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25880" y="19202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468880" y="1463040"/>
            <a:ext cx="914400" cy="16459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1" name="Text 9"/>
          <p:cNvSpPr/>
          <p:nvPr/>
        </p:nvSpPr>
        <p:spPr>
          <a:xfrm>
            <a:off x="2468880" y="15087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377440" y="19202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Approach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520440" y="1463040"/>
            <a:ext cx="914400" cy="1645920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14" name="Text 12"/>
          <p:cNvSpPr/>
          <p:nvPr/>
        </p:nvSpPr>
        <p:spPr>
          <a:xfrm>
            <a:off x="3520440" y="15087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29000" y="19202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Understanding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572000" y="1463040"/>
            <a:ext cx="914400" cy="1645920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15087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480560" y="19202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Check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623560" y="1463040"/>
            <a:ext cx="914400" cy="1645920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20" name="Text 18"/>
          <p:cNvSpPr/>
          <p:nvPr/>
        </p:nvSpPr>
        <p:spPr>
          <a:xfrm>
            <a:off x="5623560" y="15087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532120" y="19202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675120" y="1463040"/>
            <a:ext cx="914400" cy="1645920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0" y="15087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83680" y="19202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Transformation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726680" y="1463040"/>
            <a:ext cx="914400" cy="164592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26" name="Text 24"/>
          <p:cNvSpPr/>
          <p:nvPr/>
        </p:nvSpPr>
        <p:spPr>
          <a:xfrm>
            <a:off x="7726680" y="15087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635240" y="19202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8778240" y="1463040"/>
            <a:ext cx="914400" cy="164592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29" name="Text 27"/>
          <p:cNvSpPr/>
          <p:nvPr/>
        </p:nvSpPr>
        <p:spPr>
          <a:xfrm>
            <a:off x="8778240" y="15087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686800" y="19202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9829800" y="1463040"/>
            <a:ext cx="914400" cy="164592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2" name="Text 30"/>
          <p:cNvSpPr/>
          <p:nvPr/>
        </p:nvSpPr>
        <p:spPr>
          <a:xfrm>
            <a:off x="9829800" y="15087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738360" y="19202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10881360" y="1463040"/>
            <a:ext cx="914400" cy="164592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5" name="Text 33"/>
          <p:cNvSpPr/>
          <p:nvPr/>
        </p:nvSpPr>
        <p:spPr>
          <a:xfrm>
            <a:off x="10881360" y="15087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0789920" y="19202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65760" y="32918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Problema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566160" y="32918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Preparar los datos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863840" y="32918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 y comunicar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57200" y="3840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HIPOTESIS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57200" y="4206240"/>
            <a:ext cx="5486400" cy="822960"/>
          </a:xfrm>
          <a:prstGeom prst="rect">
            <a:avLst/>
          </a:prstGeom>
          <a:solidFill>
            <a:srgbClr val="E3F0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" y="429768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H1: Que areas terapeuticas concentran mas ensayos activos?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309360" y="4206240"/>
            <a:ext cx="5486400" cy="822960"/>
          </a:xfrm>
          <a:prstGeom prst="rect">
            <a:avLst/>
          </a:prstGeom>
          <a:solidFill>
            <a:srgbClr val="E3F0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92240" y="429768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H2: Que paises lideran la investigacion clinica global?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57200" y="5212080"/>
            <a:ext cx="5486400" cy="822960"/>
          </a:xfrm>
          <a:prstGeom prst="rect">
            <a:avLst/>
          </a:prstGeom>
          <a:solidFill>
            <a:srgbClr val="E3F0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0080" y="530352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H3: Como han evolucionado los ensayos por fase en el tiempo?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309360" y="5212080"/>
            <a:ext cx="5486400" cy="822960"/>
          </a:xfrm>
          <a:prstGeom prst="rect">
            <a:avLst/>
          </a:prstGeom>
          <a:solidFill>
            <a:srgbClr val="E3F0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92240" y="530352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H4: Que relacion existe entre patrocinador y fase del ensayo?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ADQUISICION DE DATOS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ClinicalTrials.gov API v2 - sin registro, sin API key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303520" cy="182880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ClinicalTrials.gov API v2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+500.000 estudios disponibles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Actualizacion en tiempo real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371600"/>
            <a:ext cx="5486400" cy="1828800"/>
          </a:xfrm>
          <a:prstGeom prst="rect">
            <a:avLst/>
          </a:prstGeom>
          <a:solidFill>
            <a:srgbClr val="E3F0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463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AREAS TERAPEUTICAS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0" y="192024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0" y="224028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0" y="256032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Cardiovascular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0" y="288036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Disease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3832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FUNCIONES PYTHON DESARROLLADAS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840480"/>
            <a:ext cx="11247120" cy="777240"/>
          </a:xfrm>
          <a:prstGeom prst="rect">
            <a:avLst/>
          </a:prstGeom>
          <a:solidFill>
            <a:srgbClr val="E3F0FF"/>
          </a:solidFill>
          <a:ln w="12700">
            <a:solidFill>
              <a:srgbClr val="E3F0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93192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fetch_page()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74720" y="393192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 la peticion HTTP a la API y devuelve JSON con resultados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754880"/>
            <a:ext cx="112471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F0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84632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parse_study()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474720" y="484632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Extrae campos del JSON anidado y devuelve diccionario plano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5669280"/>
            <a:ext cx="11247120" cy="777240"/>
          </a:xfrm>
          <a:prstGeom prst="rect">
            <a:avLst/>
          </a:prstGeom>
          <a:solidFill>
            <a:srgbClr val="E3F0FF"/>
          </a:solidFill>
          <a:ln w="12700">
            <a:solidFill>
              <a:srgbClr val="E3F0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576072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fetch_all()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474720" y="576072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 automaticamente y acumula todos los registros en un DataFrame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 DE DATOS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tecnicas aplicadas sobre 4.000 registros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486400" cy="804672"/>
          </a:xfrm>
          <a:prstGeom prst="rect">
            <a:avLst/>
          </a:prstGeom>
          <a:solidFill>
            <a:srgbClr val="E3F0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63040"/>
            <a:ext cx="457200" cy="80467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63040"/>
            <a:ext cx="457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15087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Eliminacion de duplicados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1847088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Deduplicacion por NCT ID unico — 0 duplicados encontrados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5486400" cy="804672"/>
          </a:xfrm>
          <a:prstGeom prst="rect">
            <a:avLst/>
          </a:prstGeom>
          <a:solidFill>
            <a:srgbClr val="E3F0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377440"/>
            <a:ext cx="457200" cy="80467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377440"/>
            <a:ext cx="457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05840" y="2423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Tratamiento de nulos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2761488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 en enrollment (73 nulos) y Unknown en phase (1.666 nulos)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291840"/>
            <a:ext cx="5486400" cy="804672"/>
          </a:xfrm>
          <a:prstGeom prst="rect">
            <a:avLst/>
          </a:prstGeom>
          <a:solidFill>
            <a:srgbClr val="E3F0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291840"/>
            <a:ext cx="457200" cy="80467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291840"/>
            <a:ext cx="457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05840" y="33375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Estandarizacion de strings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3675888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PHASE2 a Phase 2, RECRUITING a Recruiting via diccionario de mapeo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4206240"/>
            <a:ext cx="5486400" cy="804672"/>
          </a:xfrm>
          <a:prstGeom prst="rect">
            <a:avLst/>
          </a:prstGeom>
          <a:solidFill>
            <a:srgbClr val="E3F0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4206240"/>
            <a:ext cx="457200" cy="80467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206240"/>
            <a:ext cx="457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05840" y="42519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Normalizacion de fechas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" y="4590288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pd.to_datetime con errors=coerce, extraccion de start_year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309360" y="1463040"/>
            <a:ext cx="5486400" cy="804672"/>
          </a:xfrm>
          <a:prstGeom prst="rect">
            <a:avLst/>
          </a:prstGeom>
          <a:solidFill>
            <a:srgbClr val="E3F0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09360" y="1463040"/>
            <a:ext cx="457200" cy="80467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6" name="Text 24"/>
          <p:cNvSpPr/>
          <p:nvPr/>
        </p:nvSpPr>
        <p:spPr>
          <a:xfrm>
            <a:off x="6309360" y="1463040"/>
            <a:ext cx="457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858000" y="15087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Tratamiento de outliers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858000" y="1847088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en enrollment a 1.000.000 — habia valores de 750.000 que distorsionaban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309360" y="2377440"/>
            <a:ext cx="5486400" cy="804672"/>
          </a:xfrm>
          <a:prstGeom prst="rect">
            <a:avLst/>
          </a:prstGeom>
          <a:solidFill>
            <a:srgbClr val="E3F0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09360" y="2377440"/>
            <a:ext cx="457200" cy="80467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1" name="Text 29"/>
          <p:cNvSpPr/>
          <p:nvPr/>
        </p:nvSpPr>
        <p:spPr>
          <a:xfrm>
            <a:off x="6309360" y="2377440"/>
            <a:ext cx="457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858000" y="2423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Ingenieria de caracteristicas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858000" y="2761488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Extraccion de primary_country del campo countries con str.split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309360" y="3291840"/>
            <a:ext cx="5486400" cy="804672"/>
          </a:xfrm>
          <a:prstGeom prst="rect">
            <a:avLst/>
          </a:prstGeom>
          <a:solidFill>
            <a:srgbClr val="E3F0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09360" y="3291840"/>
            <a:ext cx="457200" cy="80467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6" name="Text 34"/>
          <p:cNvSpPr/>
          <p:nvPr/>
        </p:nvSpPr>
        <p:spPr>
          <a:xfrm>
            <a:off x="6309360" y="3291840"/>
            <a:ext cx="457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6858000" y="33375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 de columnas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858000" y="3675888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de espacios en title y sponsor con str.strip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309360" y="5120640"/>
            <a:ext cx="5394960" cy="64008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40" name="Text 38"/>
          <p:cNvSpPr/>
          <p:nvPr/>
        </p:nvSpPr>
        <p:spPr>
          <a:xfrm>
            <a:off x="6492240" y="52120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final: 4.000 filas x 12 columnas limpias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piramide de filtrado clinico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286000" y="1508760"/>
            <a:ext cx="6858000" cy="5486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9235440" y="146304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1036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286000" y="2514600"/>
            <a:ext cx="5417820" cy="548640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9" name="Text 7"/>
          <p:cNvSpPr/>
          <p:nvPr/>
        </p:nvSpPr>
        <p:spPr>
          <a:xfrm>
            <a:off x="7795260" y="246888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816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47472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286000" y="3520440"/>
            <a:ext cx="2194560" cy="548640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347472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327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448056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286000" y="4526280"/>
            <a:ext cx="548640" cy="54864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15" name="Text 13"/>
          <p:cNvSpPr/>
          <p:nvPr/>
        </p:nvSpPr>
        <p:spPr>
          <a:xfrm>
            <a:off x="2926080" y="448056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5577840"/>
            <a:ext cx="11247120" cy="91440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6692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cada 100 ensayos que arrancan, solo 8 llegan a Phase 3. El desarrollo de farmacos es un proceso muy exigente.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 Unidos lidera la investigacion clinica global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States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651760" y="1508760"/>
            <a:ext cx="6400800" cy="36576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0" y="14630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1487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975104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51760" y="2020824"/>
            <a:ext cx="2688336" cy="36576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9" name="Text 7"/>
          <p:cNvSpPr/>
          <p:nvPr/>
        </p:nvSpPr>
        <p:spPr>
          <a:xfrm>
            <a:off x="5431536" y="1975104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627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487168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651760" y="2532888"/>
            <a:ext cx="1344168" cy="36576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4087368" y="248716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305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999232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651760" y="3044952"/>
            <a:ext cx="512064" cy="365760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15" name="Text 13"/>
          <p:cNvSpPr/>
          <p:nvPr/>
        </p:nvSpPr>
        <p:spPr>
          <a:xfrm>
            <a:off x="3255264" y="299923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511296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Italy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651760" y="3557016"/>
            <a:ext cx="448056" cy="365760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18" name="Text 16"/>
          <p:cNvSpPr/>
          <p:nvPr/>
        </p:nvSpPr>
        <p:spPr>
          <a:xfrm>
            <a:off x="3191256" y="3511296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0233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Korea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651760" y="4069080"/>
            <a:ext cx="384048" cy="365760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21" name="Text 19"/>
          <p:cNvSpPr/>
          <p:nvPr/>
        </p:nvSpPr>
        <p:spPr>
          <a:xfrm>
            <a:off x="3127248" y="40233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535424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651760" y="4581144"/>
            <a:ext cx="384048" cy="365760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24" name="Text 22"/>
          <p:cNvSpPr/>
          <p:nvPr/>
        </p:nvSpPr>
        <p:spPr>
          <a:xfrm>
            <a:off x="3127248" y="4535424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5047488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651760" y="5093208"/>
            <a:ext cx="320040" cy="365760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27" name="Text 25"/>
          <p:cNvSpPr/>
          <p:nvPr/>
        </p:nvSpPr>
        <p:spPr>
          <a:xfrm>
            <a:off x="3063240" y="504748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5559552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Netherlands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651760" y="5605272"/>
            <a:ext cx="256032" cy="365760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30" name="Text 28"/>
          <p:cNvSpPr/>
          <p:nvPr/>
        </p:nvSpPr>
        <p:spPr>
          <a:xfrm>
            <a:off x="2999232" y="555955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6035040"/>
            <a:ext cx="11247120" cy="54864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60807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EEUU lidera con el 37% del total. Tres paises concentran mas del 60% de toda la investigacion clinica global.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COVID-19 disparo la investigacion clinica a niveles historicos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103120" cy="2286000"/>
          </a:xfrm>
          <a:prstGeom prst="rect">
            <a:avLst/>
          </a:prstGeom>
          <a:solidFill>
            <a:srgbClr val="E3F0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2000-2010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2103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Crecimiento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lento y estable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88920" y="1554480"/>
            <a:ext cx="2103120" cy="2286000"/>
          </a:xfrm>
          <a:prstGeom prst="rect">
            <a:avLst/>
          </a:prstGeom>
          <a:solidFill>
            <a:srgbClr val="D0E8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88920" y="16459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2011-2019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88920" y="2194560"/>
            <a:ext cx="2103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Aceleracion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notable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120640" y="1554480"/>
            <a:ext cx="2103120" cy="2286000"/>
          </a:xfrm>
          <a:prstGeom prst="rect">
            <a:avLst/>
          </a:prstGeom>
          <a:solidFill>
            <a:srgbClr val="FFE0E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0" y="16459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120640" y="2194560"/>
            <a:ext cx="2103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Caida por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452360" y="1554480"/>
            <a:ext cx="2103120" cy="2286000"/>
          </a:xfrm>
          <a:prstGeom prst="rect">
            <a:avLst/>
          </a:prstGeom>
          <a:solidFill>
            <a:srgbClr val="FFF3C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52360" y="16459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452360" y="2194560"/>
            <a:ext cx="2103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 MAXIMO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784080" y="1554480"/>
            <a:ext cx="2103120" cy="2286000"/>
          </a:xfrm>
          <a:prstGeom prst="rect">
            <a:avLst/>
          </a:prstGeom>
          <a:solidFill>
            <a:srgbClr val="E3F0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84080" y="16459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2022-2024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784080" y="2194560"/>
            <a:ext cx="2103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Estabilizacionen niveles altos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114800"/>
            <a:ext cx="3474720" cy="137160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20624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457200" y="48463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 con mas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ensayos registrados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297680" y="4114800"/>
            <a:ext cx="3474720" cy="137160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23" name="Text 21"/>
          <p:cNvSpPr/>
          <p:nvPr/>
        </p:nvSpPr>
        <p:spPr>
          <a:xfrm>
            <a:off x="4297680" y="420624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+270%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4297680" y="48463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Crecimiento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 vs 2021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138160" y="4114800"/>
            <a:ext cx="3474720" cy="137160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26" name="Text 24"/>
          <p:cNvSpPr/>
          <p:nvPr/>
        </p:nvSpPr>
        <p:spPr>
          <a:xfrm>
            <a:off x="8138160" y="420624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8138160" y="48463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Anos de datos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analizados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 y academia: roles complementarios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566160" cy="32004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4592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 fases avanzadas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2, 3 y 4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749040"/>
            <a:ext cx="3566160" cy="6400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79476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comercial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1463040"/>
            <a:ext cx="3566160" cy="3200400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10" name="Text 8"/>
          <p:cNvSpPr/>
          <p:nvPr/>
        </p:nvSpPr>
        <p:spPr>
          <a:xfrm>
            <a:off x="4297680" y="164592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297680" y="237744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Lidera en Phase 2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universidades y hospitales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97680" y="3749040"/>
            <a:ext cx="3566160" cy="6400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4297680" y="379476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Investigacion academica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38160" y="1463040"/>
            <a:ext cx="3566160" cy="320040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15" name="Text 13"/>
          <p:cNvSpPr/>
          <p:nvPr/>
        </p:nvSpPr>
        <p:spPr>
          <a:xfrm>
            <a:off x="8138160" y="164592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NIH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138160" y="237744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 en fases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tempranas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138160" y="3749040"/>
            <a:ext cx="3566160" cy="6400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8138160" y="379476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Financiacion publica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5029200"/>
            <a:ext cx="11247120" cy="1005840"/>
          </a:xfrm>
          <a:prstGeom prst="rect">
            <a:avLst/>
          </a:prstGeom>
          <a:solidFill>
            <a:srgbClr val="E3F0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51206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industria invierte donde el retorno es mayor. La academia y el sector publico lideran la investigacion basica en fases tempranas.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CLAVE - CONCLUSION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cumplieron las hipotesis?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486400" cy="1645920"/>
          </a:xfrm>
          <a:prstGeom prst="rect">
            <a:avLst/>
          </a:prstGeom>
          <a:solidFill>
            <a:srgbClr val="E3F0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63040"/>
            <a:ext cx="640080" cy="1645920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63040"/>
            <a:ext cx="640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50876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CONFIRMADA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PARCIALMENTE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88720" y="1965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Areas terapeuticas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23317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Cancer lidera dentro de las 4 areas. Para mas solidez habria que ampliar el dataset.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1463040"/>
            <a:ext cx="5486400" cy="1645920"/>
          </a:xfrm>
          <a:prstGeom prst="rect">
            <a:avLst/>
          </a:prstGeom>
          <a:solidFill>
            <a:srgbClr val="E3F0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0" y="1463040"/>
            <a:ext cx="640080" cy="16459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1463040"/>
            <a:ext cx="640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040880" y="150876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CONFIRMADA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040880" y="1965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Paises lideres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040880" y="23317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EEUU domina con el 37%. La concentracion geografica es mas marcada de lo esperado.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291840"/>
            <a:ext cx="5486400" cy="1645920"/>
          </a:xfrm>
          <a:prstGeom prst="rect">
            <a:avLst/>
          </a:prstGeom>
          <a:solidFill>
            <a:srgbClr val="E3F0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291840"/>
            <a:ext cx="640080" cy="16459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291840"/>
            <a:ext cx="640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88720" y="333756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CONFIRMADA +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 INESPERADO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88720" y="3794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Evolucion temporal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88720" y="41605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pico de 2021 post-COVID no se anticipo — fue el dato mas sorprendente.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309360" y="3291840"/>
            <a:ext cx="5486400" cy="1645920"/>
          </a:xfrm>
          <a:prstGeom prst="rect">
            <a:avLst/>
          </a:prstGeom>
          <a:solidFill>
            <a:srgbClr val="E3F0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09360" y="3291840"/>
            <a:ext cx="640080" cy="1645920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24" name="Text 22"/>
          <p:cNvSpPr/>
          <p:nvPr/>
        </p:nvSpPr>
        <p:spPr>
          <a:xfrm>
            <a:off x="6309360" y="3291840"/>
            <a:ext cx="640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040880" y="333756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CONFIRMADA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040880" y="3794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Patrocinador vs Fase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040880" y="41605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Industria-academia-gobierno: tres actores con roles perfectamente diferenciados.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PROXIMOS PASOS...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566160" cy="1554480"/>
          </a:xfrm>
          <a:prstGeom prst="rect">
            <a:avLst/>
          </a:prstGeom>
          <a:solidFill>
            <a:srgbClr val="E3F0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258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Ampliar el dataset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Extraer 50.000+ ensayos para analisis mas representativo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297680" y="1188720"/>
            <a:ext cx="3566160" cy="1554480"/>
          </a:xfrm>
          <a:prstGeom prst="rect">
            <a:avLst/>
          </a:prstGeom>
          <a:solidFill>
            <a:srgbClr val="E3F0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0" y="13258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Analisis por enfermedad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97680" y="182880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Profundizar en oncologia, neurologia y enfermedades raras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138160" y="1188720"/>
            <a:ext cx="3566160" cy="1554480"/>
          </a:xfrm>
          <a:prstGeom prst="rect">
            <a:avLst/>
          </a:prstGeom>
          <a:solidFill>
            <a:srgbClr val="E3F0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38160" y="13258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Modelos estadisticos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138160" y="182880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analisis de supervivencia y modelos de prediccion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3566160" cy="1554480"/>
          </a:xfrm>
          <a:prstGeom prst="rect">
            <a:avLst/>
          </a:prstGeom>
          <a:solidFill>
            <a:srgbClr val="E3F0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1546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Dashboard interactivo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365760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visualizaciones dinamicas con Plotly o Streamlit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97680" y="3017520"/>
            <a:ext cx="3566160" cy="1554480"/>
          </a:xfrm>
          <a:prstGeom prst="rect">
            <a:avLst/>
          </a:prstGeom>
          <a:solidFill>
            <a:srgbClr val="E3F0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0" y="31546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Resultados clinicos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297680" y="365760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Incorporar datos de exito/fracaso de ensayos completados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38160" y="3017520"/>
            <a:ext cx="3566160" cy="1554480"/>
          </a:xfrm>
          <a:prstGeom prst="rect">
            <a:avLst/>
          </a:prstGeom>
          <a:solidFill>
            <a:srgbClr val="E3F0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38160" y="31546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Analisis geoespacial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138160" y="365760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Mapas interactivos de distribucion global de ensayos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Trials Global Analysis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283464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39319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 Samaniego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43484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Bootcamp  |  Formacion en Laboratorio Clinico y Biomedica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4937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github.com/mssamaniegocarriel-ctrl/data-wrangling-project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2026-05-07T22:21:28Z</dcterms:created>
  <dcterms:modified xsi:type="dcterms:W3CDTF">2026-05-07T22:21:28Z</dcterms:modified>
</cp:coreProperties>
</file>