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Clinical Trials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panorama mundial de ensayos clínicos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Samaniego  |  Data Analytics Bootcamp  | 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565C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el panorama global de los ensayos clínicos?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    Analizar tendencias globales de ensayos clínicos por fase, país y tipo de patrocinador usando datos reales en tiempo real.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65176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v2 pública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5176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4.000 registros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265176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35440" y="2651760"/>
            <a:ext cx="265176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743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201168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4663440"/>
            <a:ext cx="2011680" cy="8229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4663440"/>
            <a:ext cx="201168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663440"/>
            <a:ext cx="2011680" cy="8229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663440"/>
            <a:ext cx="201168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9264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DEL 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a decisiones inteligentes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9144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554480"/>
            <a:ext cx="9144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914400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554480"/>
            <a:ext cx="914400" cy="914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914400" cy="914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554480"/>
            <a:ext cx="914400" cy="914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554480"/>
            <a:ext cx="914400" cy="914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26680" y="1554480"/>
            <a:ext cx="914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78240" y="1554480"/>
            <a:ext cx="914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829800" y="1554480"/>
            <a:ext cx="914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982980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3836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81360" y="1554480"/>
            <a:ext cx="9144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8813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7899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Problema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66160" y="2743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los datos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2743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comunicar resultados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INVESTIGACIÓN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840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¿Qué áreas terapéuticas concentran más ensayos activos?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09360" y="374904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840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¿Qué países lideran la investigación clínica global?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846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¿Cómo han evolucionado los ensayos por fase a lo largo del tiempo?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09360" y="4754880"/>
            <a:ext cx="5486400" cy="82296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846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H4: ¿Qué relación existe entre tipo de patrocinador y fase del ensayo?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 v2 — sin registro, sin API key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 v2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+500.000 estudios disponibles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en tiempo real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011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TERAPÉUTICAS ANALIZADAS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🎗️  Cancer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677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Diabetes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151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Cardiovascular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9626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Rare Disease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PRINCIPALES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486400" cy="54864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nct_id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ensayo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(Recruiting, Completed...)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5486400" cy="54864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5303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del ensayo (1, 2, 3, 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97764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participantes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5486400" cy="548640"/>
          </a:xfrm>
          <a:prstGeom prst="rect">
            <a:avLst/>
          </a:prstGeom>
          <a:solidFill>
            <a:srgbClr val="E3F0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sponsor_class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patrocinador (Industry, NIH...)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52578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primary_country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principal del ensayo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técnicas aplicadas sobre 4.000 registros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duplicados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por NCT ID único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nulos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numéricos · 'Unknown' en texto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 strings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PHASE2→Phase 2 · RECRUITING→Recruiting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805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fechas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 datetime · extracción start_year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46304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46304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4630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outliers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enrollment en 1.000.000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246888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4688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características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primary_country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474720"/>
            <a:ext cx="5486400" cy="8686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474720"/>
            <a:ext cx="502920" cy="868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4747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columnas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3886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de espacios en title y sponsor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5486400"/>
            <a:ext cx="539496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5577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4.000 filas × 12 columnas limpias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pirámide de filtrado clínico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68580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35440" y="1463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5417820" cy="6400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95260" y="24688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474720"/>
            <a:ext cx="2194560" cy="6400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4480560"/>
            <a:ext cx="548640" cy="6400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80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Cuanto más avanzada la fase, menos ensayos sobreviven — solo el 8% llega a Phase 3. El desarrollo de fármacos es un proceso muy exigente.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 lidera la investigación clínica global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6400800" cy="3657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2020824"/>
            <a:ext cx="2688336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5431536" y="19751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532888"/>
            <a:ext cx="1344168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4087368" y="2487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3044952"/>
            <a:ext cx="512064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3255264" y="2999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557016"/>
            <a:ext cx="448056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9" name="Text 17"/>
          <p:cNvSpPr/>
          <p:nvPr/>
        </p:nvSpPr>
        <p:spPr>
          <a:xfrm>
            <a:off x="3191256" y="35112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4069080"/>
            <a:ext cx="384048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35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4581144"/>
            <a:ext cx="384048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5" name="Text 23"/>
          <p:cNvSpPr/>
          <p:nvPr/>
        </p:nvSpPr>
        <p:spPr>
          <a:xfrm>
            <a:off x="3127248" y="453542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0474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5093208"/>
            <a:ext cx="320040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3063240" y="50474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5595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5605272"/>
            <a:ext cx="256032" cy="36576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1" name="Text 29"/>
          <p:cNvSpPr/>
          <p:nvPr/>
        </p:nvSpPr>
        <p:spPr>
          <a:xfrm>
            <a:off x="2999232" y="555955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EEUU lidera con el 37% de todos los ensayos. China emerge como segunda potencia. Europa forma el segundo bloque más activo.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COVID-19 disparó la investigación clínica a niveles históricos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03120" cy="22860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y estable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03120" cy="2286000"/>
          </a:xfrm>
          <a:prstGeom prst="rect">
            <a:avLst/>
          </a:prstGeom>
          <a:solidFill>
            <a:srgbClr val="D0E8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645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2011-2019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554480"/>
            <a:ext cx="2103120" cy="2286000"/>
          </a:xfrm>
          <a:prstGeom prst="rect">
            <a:avLst/>
          </a:prstGeom>
          <a:solidFill>
            <a:srgbClr val="FFE0E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645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1554480"/>
            <a:ext cx="2103120" cy="2286000"/>
          </a:xfrm>
          <a:prstGeom prst="rect">
            <a:avLst/>
          </a:prstGeom>
          <a:solidFill>
            <a:srgbClr val="FFF3C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645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MÁXIMO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84080" y="1554480"/>
            <a:ext cx="2103120" cy="228600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6459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78408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0" y="27432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niveles altos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CLAVE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63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5394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con más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registrados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5720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4663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297680" y="5394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vs 2021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4572000"/>
            <a:ext cx="3474720" cy="13716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4663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138160" y="5394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datos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y academia: roles complementarios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3200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fases avanzadas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2, 3, 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comercial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66160" cy="3200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🏫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976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en 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(universidades, hospitales)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académica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3566160" cy="3200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3816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en fases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749040"/>
            <a:ext cx="35661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Financiación pública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industria farmacéutica invierte en fases avanzadas donde el retorno comercial es mayor. La investigación académica y el sector público lideran las fases tempranas de exploración básica.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CLAVE — CONCLUSIÓN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clínica global es concentrada, exigente y en expansión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0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filtrado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ensayos están en fases tempranas. Solo el 8% alcanza Phase 3 — el desarrollo clínico es muy exigente.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48640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48640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630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geográfica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EEUU lidera con el 37% de todos los ensayos. China emerge como segunda potencia global.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48640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548640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COVID-19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COVID-19 no frenó la ciencia — la disparó. 2021 fue el año con más ensayos registrados en la historia.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548640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200400"/>
            <a:ext cx="548640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20040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3291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por sector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domina fases avanzadas. Academia y sector público lideran la investigación básica.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PASOS...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50.000+ ensayos para análisis más representativo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enfermedad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 en oncología, neurología y enfermedades raras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0972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188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análisis de supervivencia y modelos de predicción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visualizaciones dinámicas con Plotly o Streamlit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9260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9768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clínicos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 éxito/fracaso de ensayos completados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926080"/>
            <a:ext cx="3566160" cy="155448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3816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geoespacial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interactivos de distribución global de ensayos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0" y="914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🏥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Global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Samaniego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Bootcamp  |  Formación en Laboratorio Clínico y Biomédica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github.com/mssamaniegocarriel-ctrl/data-wrangling-project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565C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2026-05-07T21:12:05Z</dcterms:created>
  <dcterms:modified xsi:type="dcterms:W3CDTF">2026-05-07T21:12:05Z</dcterms:modified>
</cp:coreProperties>
</file>